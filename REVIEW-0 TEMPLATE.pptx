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4"/>
  </p:notesMasterIdLst>
  <p:sldIdLst>
    <p:sldId id="267" r:id="rId3"/>
    <p:sldId id="257" r:id="rId4"/>
    <p:sldId id="278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howGuides="1">
      <p:cViewPr varScale="1">
        <p:scale>
          <a:sx n="78" d="100"/>
          <a:sy n="78" d="100"/>
        </p:scale>
        <p:origin x="878" y="10"/>
      </p:cViewPr>
      <p:guideLst>
        <p:guide orient="horz" pos="2160"/>
        <p:guide pos="3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14672-7F74-4670-9356-5FF07953FE6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C78BE-84F6-4F5F-974A-47A573FE28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0" y="232920"/>
            <a:ext cx="121917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18212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16480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9944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18212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16480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/>
          <p:nvPr userDrawn="1"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/>
          <p:cNvSpPr txBox="1"/>
          <p:nvPr userDrawn="1"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0" y="232920"/>
            <a:ext cx="121917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18212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816480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19944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418212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816480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/>
          <p:nvPr/>
        </p:nvSpPr>
        <p:spPr>
          <a:xfrm>
            <a:off x="777240" y="6634440"/>
            <a:ext cx="5781600" cy="2206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Date Placeholder 3"/>
          <p:cNvSpPr/>
          <p:nvPr/>
        </p:nvSpPr>
        <p:spPr>
          <a:xfrm>
            <a:off x="6559200" y="6634440"/>
            <a:ext cx="5194800" cy="220680"/>
          </a:xfrm>
          <a:prstGeom prst="rect">
            <a:avLst/>
          </a:prstGeom>
          <a:solidFill>
            <a:srgbClr val="008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Date Placeholder 3"/>
          <p:cNvSpPr/>
          <p:nvPr/>
        </p:nvSpPr>
        <p:spPr>
          <a:xfrm>
            <a:off x="11754360" y="6636960"/>
            <a:ext cx="437400" cy="220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Date Placeholder 3"/>
          <p:cNvSpPr/>
          <p:nvPr/>
        </p:nvSpPr>
        <p:spPr>
          <a:xfrm>
            <a:off x="0" y="0"/>
            <a:ext cx="12191760" cy="232560"/>
          </a:xfrm>
          <a:prstGeom prst="rect">
            <a:avLst/>
          </a:prstGeom>
          <a:solidFill>
            <a:srgbClr val="00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Date Placeholder 3"/>
          <p:cNvSpPr/>
          <p:nvPr/>
        </p:nvSpPr>
        <p:spPr>
          <a:xfrm>
            <a:off x="0" y="6634440"/>
            <a:ext cx="776880" cy="22104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 panose="020F0502020204030204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 algn="just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Times New Roman" panose="02020603050405020304"/>
              </a:rPr>
              <a:t>Click to edit the outline text format</a:t>
            </a:r>
          </a:p>
          <a:p>
            <a:pPr marL="864235" lvl="1" indent="-323850" algn="just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Second Outline Level</a:t>
            </a:r>
          </a:p>
          <a:p>
            <a:pPr marL="1296035" lvl="2" indent="-288290" algn="just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Third Outline Level</a:t>
            </a:r>
          </a:p>
          <a:p>
            <a:pPr marL="1727835" lvl="3" indent="-215900" algn="just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Fourth Outline Level</a:t>
            </a:r>
          </a:p>
          <a:p>
            <a:pPr marL="2160270" lvl="4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Fifth Outline Level</a:t>
            </a:r>
          </a:p>
          <a:p>
            <a:pPr marL="2592070" lvl="5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Sixth Outline Level</a:t>
            </a:r>
          </a:p>
          <a:p>
            <a:pPr marL="3023870" lvl="6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b="0" strike="noStrike" spc="-1">
                <a:solidFill>
                  <a:srgbClr val="000000"/>
                </a:solidFill>
                <a:latin typeface="Times New Roman" panose="02020603050405020304"/>
              </a:rPr>
              <a:t>Edit Master text styles</a:t>
            </a:r>
          </a:p>
          <a:p>
            <a:pPr marL="685800" lvl="1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en-US" sz="2400" b="0" strike="noStrike" spc="-1">
                <a:solidFill>
                  <a:srgbClr val="000000"/>
                </a:solidFill>
                <a:latin typeface="Times New Roman" panose="02020603050405020304"/>
              </a:rPr>
              <a:t>Second level</a:t>
            </a:r>
          </a:p>
          <a:p>
            <a:pPr marL="1143000" lvl="2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Courier New" panose="02070309020205020404"/>
              <a:buChar char="o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Third level</a:t>
            </a:r>
          </a:p>
          <a:p>
            <a:pPr marL="1600200" lvl="3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Fourth level</a:t>
            </a:r>
          </a:p>
          <a:p>
            <a:pPr marL="2057400" lvl="4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Fifth level</a:t>
            </a:r>
          </a:p>
        </p:txBody>
      </p:sp>
      <p:sp>
        <p:nvSpPr>
          <p:cNvPr id="45" name="Date Placeholder 3"/>
          <p:cNvSpPr/>
          <p:nvPr/>
        </p:nvSpPr>
        <p:spPr>
          <a:xfrm>
            <a:off x="777240" y="6642720"/>
            <a:ext cx="5653800" cy="214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 dirty="0">
                <a:solidFill>
                  <a:srgbClr val="FFFFFF"/>
                </a:solidFill>
                <a:latin typeface="Times New Roman" panose="02020603050405020304"/>
              </a:rPr>
              <a:t>Dept. of Computer Science and Engineering</a:t>
            </a:r>
            <a:endParaRPr lang="en-IN" sz="1600" b="0" strike="noStrike" spc="-1" dirty="0">
              <a:latin typeface="Arial" panose="020B0604020202020204"/>
            </a:endParaRPr>
          </a:p>
        </p:txBody>
      </p:sp>
      <p:sp>
        <p:nvSpPr>
          <p:cNvPr id="46" name="Date Placeholder 3"/>
          <p:cNvSpPr/>
          <p:nvPr/>
        </p:nvSpPr>
        <p:spPr>
          <a:xfrm>
            <a:off x="6431400" y="6642000"/>
            <a:ext cx="5322600" cy="215640"/>
          </a:xfrm>
          <a:prstGeom prst="rect">
            <a:avLst/>
          </a:prstGeom>
          <a:solidFill>
            <a:srgbClr val="008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>
                <a:solidFill>
                  <a:srgbClr val="FFFFFF"/>
                </a:solidFill>
                <a:latin typeface="Times New Roman" panose="02020603050405020304"/>
              </a:rPr>
              <a:t>Srinivasa Ramanujan Institute of Technology</a:t>
            </a:r>
            <a:endParaRPr lang="en-IN" sz="1600" b="0" strike="noStrike" spc="-1">
              <a:latin typeface="Arial" panose="020B0604020202020204"/>
            </a:endParaRPr>
          </a:p>
        </p:txBody>
      </p:sp>
      <p:sp>
        <p:nvSpPr>
          <p:cNvPr id="47" name="Date Placeholder 3"/>
          <p:cNvSpPr/>
          <p:nvPr/>
        </p:nvSpPr>
        <p:spPr>
          <a:xfrm>
            <a:off x="11623040" y="6642100"/>
            <a:ext cx="568960" cy="21590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287FBA57-AD8A-4D8D-8881-00EAA4F18DD5}" type="slidenum">
              <a:rPr lang="en-IN" sz="1600" b="1" strike="noStrike" spc="-1">
                <a:solidFill>
                  <a:srgbClr val="002060"/>
                </a:solidFill>
                <a:latin typeface="Times New Roman" panose="02020603050405020304"/>
              </a:rPr>
              <a:t>‹#›</a:t>
            </a:fld>
            <a:endParaRPr lang="en-IN" sz="1600" b="0" strike="noStrike" spc="-1">
              <a:latin typeface="Arial" panose="020B0604020202020204"/>
            </a:endParaRPr>
          </a:p>
        </p:txBody>
      </p:sp>
      <p:sp>
        <p:nvSpPr>
          <p:cNvPr id="48" name="Date Placeholder 3"/>
          <p:cNvSpPr/>
          <p:nvPr/>
        </p:nvSpPr>
        <p:spPr>
          <a:xfrm>
            <a:off x="0" y="0"/>
            <a:ext cx="12191760" cy="232560"/>
          </a:xfrm>
          <a:prstGeom prst="rect">
            <a:avLst/>
          </a:prstGeom>
          <a:solidFill>
            <a:srgbClr val="00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i="1" strike="noStrike" spc="-1" dirty="0">
                <a:solidFill>
                  <a:srgbClr val="FFFFFF"/>
                </a:solidFill>
                <a:latin typeface="Times New Roman" panose="02020603050405020304"/>
              </a:rPr>
              <a:t>Voice Assistance for Blind People</a:t>
            </a:r>
            <a:endParaRPr lang="en-IN" sz="1500" b="0" strike="noStrike" spc="-1" dirty="0">
              <a:latin typeface="Arial" panose="020B0604020202020204"/>
            </a:endParaRPr>
          </a:p>
        </p:txBody>
      </p:sp>
      <p:pic>
        <p:nvPicPr>
          <p:cNvPr id="49" name="Picture 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506320" y="595620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50" name="Date Placeholder 3"/>
          <p:cNvSpPr/>
          <p:nvPr/>
        </p:nvSpPr>
        <p:spPr>
          <a:xfrm>
            <a:off x="0" y="6642735"/>
            <a:ext cx="932815" cy="21463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 dirty="0">
                <a:solidFill>
                  <a:srgbClr val="FFFFFF"/>
                </a:solidFill>
                <a:latin typeface="Times New Roman" panose="02020603050405020304"/>
              </a:rPr>
              <a:t> A - 27</a:t>
            </a:r>
            <a:endParaRPr lang="en-IN" sz="1600" b="0" strike="noStrike" spc="-1" dirty="0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 txBox="1"/>
          <p:nvPr/>
        </p:nvSpPr>
        <p:spPr>
          <a:xfrm>
            <a:off x="8900268" y="1745391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 GAYATRI</a:t>
            </a:r>
          </a:p>
          <a:p>
            <a:pPr>
              <a:spcBef>
                <a:spcPts val="300"/>
              </a:spcBef>
            </a:pPr>
            <a:r>
              <a:rPr lang="en-US" sz="2800" b="0" dirty="0"/>
              <a:t>Roll No. </a:t>
            </a:r>
            <a:r>
              <a:rPr lang="en-US" b="0" dirty="0"/>
              <a:t>224G1A0519</a:t>
            </a:r>
            <a:endParaRPr lang="en-US" sz="2800" b="0" dirty="0"/>
          </a:p>
        </p:txBody>
      </p:sp>
      <p:sp>
        <p:nvSpPr>
          <p:cNvPr id="6" name="Subtitle 11"/>
          <p:cNvSpPr txBox="1"/>
          <p:nvPr/>
        </p:nvSpPr>
        <p:spPr>
          <a:xfrm>
            <a:off x="3759654" y="2475580"/>
            <a:ext cx="4672674" cy="898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400" b="0" i="1" dirty="0"/>
              <a:t>Under the guidance of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Mr. L. Suman </a:t>
            </a:r>
            <a:r>
              <a:rPr lang="en-IN" sz="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M.TECH,(</a:t>
            </a:r>
            <a:r>
              <a:rPr lang="en-IN" sz="8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Ph.D</a:t>
            </a:r>
            <a:r>
              <a:rPr lang="en-IN" sz="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  <p:sp>
        <p:nvSpPr>
          <p:cNvPr id="7" name="Subtitle 11"/>
          <p:cNvSpPr txBox="1"/>
          <p:nvPr/>
        </p:nvSpPr>
        <p:spPr>
          <a:xfrm>
            <a:off x="1514475" y="516253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5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4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</a:p>
          <a:p>
            <a:pPr>
              <a:spcBef>
                <a:spcPts val="300"/>
              </a:spcBef>
            </a:pPr>
            <a:r>
              <a:rPr lang="en-US" sz="3400" dirty="0">
                <a:effectLst/>
                <a:ea typeface="Times New Roman" panose="02020603050405020304" pitchFamily="18" charset="0"/>
              </a:rPr>
              <a:t>Autonomous</a:t>
            </a:r>
            <a:endParaRPr lang="en-US" sz="3400" b="0" dirty="0"/>
          </a:p>
          <a:p>
            <a:pPr>
              <a:spcBef>
                <a:spcPts val="300"/>
              </a:spcBef>
            </a:pPr>
            <a:r>
              <a:rPr lang="en-US" sz="2300" dirty="0" err="1"/>
              <a:t>Rotarypuram</a:t>
            </a:r>
            <a:r>
              <a:rPr lang="en-US" sz="2300" dirty="0"/>
              <a:t> Village, B K </a:t>
            </a:r>
            <a:r>
              <a:rPr lang="en-US" sz="2300" dirty="0" err="1"/>
              <a:t>Samudram</a:t>
            </a:r>
            <a:r>
              <a:rPr lang="en-US" sz="2300" dirty="0"/>
              <a:t> Mandal, </a:t>
            </a:r>
            <a:r>
              <a:rPr lang="en-US" sz="2300" dirty="0" err="1"/>
              <a:t>Ananthapuramu</a:t>
            </a:r>
            <a:r>
              <a:rPr lang="en-US" sz="2300" dirty="0"/>
              <a:t> – 515701.</a:t>
            </a:r>
          </a:p>
          <a:p>
            <a:pPr>
              <a:spcAft>
                <a:spcPts val="100"/>
              </a:spcAft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2025-2026</a:t>
            </a:r>
            <a:endParaRPr lang="en-US" sz="2500" b="0" dirty="0"/>
          </a:p>
          <a:p>
            <a:endParaRPr lang="en-IN" b="0" dirty="0"/>
          </a:p>
        </p:txBody>
      </p:sp>
      <p:sp>
        <p:nvSpPr>
          <p:cNvPr id="12" name="Subtitle 11"/>
          <p:cNvSpPr txBox="1"/>
          <p:nvPr/>
        </p:nvSpPr>
        <p:spPr>
          <a:xfrm>
            <a:off x="4776966" y="1668298"/>
            <a:ext cx="2521607" cy="6925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 SAI LIHARIKA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224G1A0590</a:t>
            </a:r>
          </a:p>
        </p:txBody>
      </p:sp>
      <p:sp>
        <p:nvSpPr>
          <p:cNvPr id="13" name="Subtitle 11"/>
          <p:cNvSpPr txBox="1"/>
          <p:nvPr/>
        </p:nvSpPr>
        <p:spPr>
          <a:xfrm>
            <a:off x="8617598" y="1783000"/>
            <a:ext cx="2431402" cy="857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endParaRPr lang="en-US" sz="2800" b="0" dirty="0"/>
          </a:p>
        </p:txBody>
      </p:sp>
      <p:sp>
        <p:nvSpPr>
          <p:cNvPr id="14" name="Subtitle 11"/>
          <p:cNvSpPr txBox="1"/>
          <p:nvPr/>
        </p:nvSpPr>
        <p:spPr>
          <a:xfrm>
            <a:off x="1600200" y="170834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 HARSHITHA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224G1A0527</a:t>
            </a:r>
          </a:p>
        </p:txBody>
      </p:sp>
      <p:sp>
        <p:nvSpPr>
          <p:cNvPr id="17" name="Rectangle: Rounded Corners 16"/>
          <p:cNvSpPr/>
          <p:nvPr/>
        </p:nvSpPr>
        <p:spPr>
          <a:xfrm>
            <a:off x="755009" y="335271"/>
            <a:ext cx="10528183" cy="857864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Voice assistance for blind people </a:t>
            </a:r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14840" y="1261696"/>
            <a:ext cx="676230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2301" y="3477046"/>
            <a:ext cx="1527379" cy="16854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40" y="22860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Contents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Title Justification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Abstract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Problem statement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Objectives of Project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Literature survey for objectives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Proposed Work -(Methods to be followed for proposed system) 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References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GitHub Link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Queries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40" y="22860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dirty="0">
                <a:solidFill>
                  <a:srgbClr val="000000"/>
                </a:solidFill>
                <a:latin typeface="Times New Roman" panose="02020603050405020304"/>
                <a:sym typeface="+mn-ea"/>
              </a:rPr>
              <a:t>Title Justification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200" y="1371600"/>
            <a:ext cx="10744200" cy="489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title “</a:t>
            </a: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Assistance For Blind People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reflects the core idea of the project using </a:t>
            </a:r>
            <a:r>
              <a:rPr lang="en-US" sz="2400" dirty="0"/>
              <a:t>real-time sensors and voice alerts to help visually impaired individuals detect nearby obstacles, navigate safely, and move independently with enhanced confidence.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highlights: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audio-based guidance used to assist visually impaired individuals.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Assistance 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support, safety, and improved mobility for blind users.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Blind People 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Clearly identifies the target group who benefit from the system.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 panose="02020603050405020304"/>
              </a:rPr>
              <a:t>Abstract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304800" y="1066800"/>
            <a:ext cx="11277599" cy="510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Context/Background: Visually impaired individuals face challenges navigating and avoiding obstacles, and current aids lack real-time detection with audio feedback.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Problem: Can a system be built that converts real-time obstacle detection into immediate voice alerts to help blind people navigate safely?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Objectives/Goals: Design a lightweight, portable, user-friendly device using sensors to detect obstacles and provide instant voice warnings so visually impaired users can move safely and independently.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 Use ultrasonic sensors for real-time scanning of surroundings, continuous distance measurement, and integrate a voice output (speaker/headphones) to deliver immediate audio alerts.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Results/Findings: The system reliably detected obstacles in real time and produced clear voice alerts, improving user awareness and reducing collisions, thereby enhancing mobility and confidence.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Conclusions/Implications: A voice-assisted obstacle detection system can significantly improve safety and independence for blind individuals; the approach holds promise for wider assistive applications and inclusive living.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Problem Statement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193D9-2041-1F27-3C36-3ABD74B0F212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190380" y="1351508"/>
            <a:ext cx="118110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Visually impaired individuals cannot easily detect obstacles in front of them, especially in crowded or unfamiliar environments, leading to accidents or injuries.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walking sticks provide limited assistance, as they can only detect obstacles within a short range and cannot alert users about objects at head or upper-body level.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assistive devices are expensive, complex, or not user-friendly, making them inaccessible for many blind users who need affordable solutions.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voice feedback prevents visually impaired people from reacting quickly to nearby hazards or changes in their surroundings.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others for mobility reduces confidence and independence, making daily activities challenging and limiting their ability to move freely in homes, campuses, and public spaces.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Objectives of Project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52400" y="106680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1: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real-time, web-based object detection system using live camera input that identifies obstacles and provides meaningful voice alerts to visually impaired users.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2: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enhance user experience through intelligent filtering of detected objects, multilingual voice support, and focused audio notifications that avoid unnecessary distractions.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3: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enable interactive, conversational assistance where users can ask follow-up questions about the surroundings and receive accurate responses, while ensuring continuous obstacle detection after each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 panose="02020603050405020304"/>
              </a:rPr>
              <a:t>Literature survey for objectives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BBB247E-DBD6-EEDA-F661-50071BBD0A24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546523354"/>
              </p:ext>
            </p:extLst>
          </p:nvPr>
        </p:nvGraphicFramePr>
        <p:xfrm>
          <a:off x="723780" y="1295400"/>
          <a:ext cx="10744200" cy="4800601"/>
        </p:xfrm>
        <a:graphic>
          <a:graphicData uri="http://schemas.openxmlformats.org/drawingml/2006/table">
            <a:tbl>
              <a:tblPr/>
              <a:tblGrid>
                <a:gridCol w="498075">
                  <a:extLst>
                    <a:ext uri="{9D8B030D-6E8A-4147-A177-3AD203B41FA5}">
                      <a16:colId xmlns:a16="http://schemas.microsoft.com/office/drawing/2014/main" val="3004182889"/>
                    </a:ext>
                  </a:extLst>
                </a:gridCol>
                <a:gridCol w="2348070">
                  <a:extLst>
                    <a:ext uri="{9D8B030D-6E8A-4147-A177-3AD203B41FA5}">
                      <a16:colId xmlns:a16="http://schemas.microsoft.com/office/drawing/2014/main" val="4144561049"/>
                    </a:ext>
                  </a:extLst>
                </a:gridCol>
                <a:gridCol w="1494226">
                  <a:extLst>
                    <a:ext uri="{9D8B030D-6E8A-4147-A177-3AD203B41FA5}">
                      <a16:colId xmlns:a16="http://schemas.microsoft.com/office/drawing/2014/main" val="1897108754"/>
                    </a:ext>
                  </a:extLst>
                </a:gridCol>
                <a:gridCol w="1799171">
                  <a:extLst>
                    <a:ext uri="{9D8B030D-6E8A-4147-A177-3AD203B41FA5}">
                      <a16:colId xmlns:a16="http://schemas.microsoft.com/office/drawing/2014/main" val="1414940137"/>
                    </a:ext>
                  </a:extLst>
                </a:gridCol>
                <a:gridCol w="1534886">
                  <a:extLst>
                    <a:ext uri="{9D8B030D-6E8A-4147-A177-3AD203B41FA5}">
                      <a16:colId xmlns:a16="http://schemas.microsoft.com/office/drawing/2014/main" val="440724994"/>
                    </a:ext>
                  </a:extLst>
                </a:gridCol>
                <a:gridCol w="1534886">
                  <a:extLst>
                    <a:ext uri="{9D8B030D-6E8A-4147-A177-3AD203B41FA5}">
                      <a16:colId xmlns:a16="http://schemas.microsoft.com/office/drawing/2014/main" val="4226299658"/>
                    </a:ext>
                  </a:extLst>
                </a:gridCol>
                <a:gridCol w="1534886">
                  <a:extLst>
                    <a:ext uri="{9D8B030D-6E8A-4147-A177-3AD203B41FA5}">
                      <a16:colId xmlns:a16="http://schemas.microsoft.com/office/drawing/2014/main" val="2617731572"/>
                    </a:ext>
                  </a:extLst>
                </a:gridCol>
              </a:tblGrid>
              <a:tr h="524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No</a:t>
                      </a:r>
                      <a:endParaRPr lang="en-IN" sz="1200" dirty="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Title</a:t>
                      </a:r>
                      <a:endParaRPr lang="en-IN" sz="120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Author</a:t>
                      </a:r>
                      <a:endParaRPr lang="en-IN" sz="120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Journal Name &amp; Year</a:t>
                      </a:r>
                      <a:endParaRPr lang="en-IN" sz="120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Methodology / Approach Used</a:t>
                      </a:r>
                      <a:endParaRPr lang="en-IN" sz="120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Key Findings</a:t>
                      </a:r>
                      <a:endParaRPr lang="en-IN" sz="120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Gaps Identified</a:t>
                      </a:r>
                      <a:endParaRPr lang="en-IN" sz="120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868067"/>
                  </a:ext>
                </a:extLst>
              </a:tr>
              <a:tr h="1121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1</a:t>
                      </a:r>
                      <a:endParaRPr lang="en-IN" sz="1200" dirty="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Real-Time Object Detection for Blind Navigation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Kumar &amp; Devi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Int. Journal of Computer Applications, 2020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Mobile camera + YOLO object detection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Helped blind users identify surrounding objects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 obstacle filtering; all detected objects are read aloud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083417"/>
                  </a:ext>
                </a:extLst>
              </a:tr>
              <a:tr h="1121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2</a:t>
                      </a:r>
                      <a:endParaRPr lang="en-IN" sz="120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Voice-Based Assistive Technology for the Visually Impaired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Ahmed et al.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IEEE Assistive Tech Conference, 2021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Speech output + object recognition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Provided basic voice guidance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Limited interaction; no question–answer capability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526500"/>
                  </a:ext>
                </a:extLst>
              </a:tr>
              <a:tr h="911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</a:t>
                      </a:r>
                      <a:endParaRPr lang="en-IN" sz="120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AI-Powered Smart Vision for Blind Users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Banerjee et al.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Journal of AI &amp; Accessibility, 2022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AI-based scene understanding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Improved accessibility through AI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 multilingual support; no web-based solution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52840"/>
                  </a:ext>
                </a:extLst>
              </a:tr>
              <a:tr h="1121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4</a:t>
                      </a:r>
                      <a:endParaRPr lang="en-IN" sz="1200"/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Web-Based Object Detection Using Deep Learning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Velmurugan &amp; Priya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Journal of Web Computing, 2023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Browser camera + TensorFlow.js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Enabled object detection through browser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No voice alerts; not designed for blind users</a:t>
                      </a:r>
                    </a:p>
                  </a:txBody>
                  <a:tcPr marL="59937" marR="59937" marT="29968" marB="29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4226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/>
          </p:nvPr>
        </p:nvSpPr>
        <p:spPr>
          <a:xfrm>
            <a:off x="199440" y="1025280"/>
            <a:ext cx="11288520" cy="537552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miter/>
          </a:ln>
        </p:spPr>
        <p:txBody>
          <a:bodyPr anchor="t"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provides a smart and interactive voice-based obstacle detection system for visually impaired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web application with camera access to detect objects in real time and provide audio alerts only for obstacles that may affect the user’s path.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an intelligent detection and filtering approach, where: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Non-obstacle objects → Ignored to avoid confusion 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Obstacle objects → Instant voice alert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supports multilingual audio output, enabling users to hear the results in the language of their choice.</a:t>
            </a:r>
            <a:endParaRPr lang="en-IN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users can ask follow-up questions about the detected objects:</a:t>
            </a:r>
            <a:endParaRPr lang="en-IN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Example: If the system says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“There is a tree in front of you.”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The user can ask: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“Is there a bench under the tree to sit?”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The system responds with Yes or No.</a:t>
            </a:r>
            <a:endParaRPr lang="en-IN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query is answered, the system automatically resumes obstacle detection,   ensuring continuous and hands-free assistance.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Proposed System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IN" sz="4400" b="0" strike="noStrike" spc="-1">
                <a:solidFill>
                  <a:srgbClr val="FFFFFF"/>
                </a:solidFill>
                <a:latin typeface="Times New Roman" panose="02020603050405020304"/>
              </a:rPr>
              <a:t> Reference</a:t>
            </a: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206580" y="1841697"/>
            <a:ext cx="11778840" cy="385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577850" indent="-577850"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Kumar, S., &amp; Reddy, A. (2021).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Visual Assistance Systems for the Visually Impaired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Smart Device Applications, 15(3), 22–29.</a:t>
            </a:r>
          </a:p>
          <a:p>
            <a:pPr marL="577850" indent="-577850"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Mehta, R., &amp; Thomas, J. (2022).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Obstacle Detection Using Deep Learning for Assistive Navigation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Conference on Intelligent Mobility and Vision Systems, pp. 55–60.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7850" indent="-577850"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 Banerjee, P., &amp; Shah, L. (2020).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Voice-Assisted Navigation Tools for Visually Impaired Individuals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Human-Centered Computing, 9(4), 112–120.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IN" sz="4400" b="0" strike="noStrike" spc="-1">
                <a:solidFill>
                  <a:srgbClr val="FFFFFF"/>
                </a:solidFill>
                <a:latin typeface="Times New Roman" panose="02020603050405020304"/>
              </a:rPr>
              <a:t>Git Hub Dashboards of each student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24345" y="6096000"/>
            <a:ext cx="9220200" cy="4240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 err="1"/>
              <a:t>Github</a:t>
            </a:r>
            <a:r>
              <a:rPr lang="en-US" dirty="0"/>
              <a:t> Link: https://github.com/kuchiharshitha/CSE-2022-2026-Batch-A27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799C2-1987-1AD0-66A1-4D0A5A352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45" y="1210328"/>
            <a:ext cx="10134600" cy="47244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2632680" y="2375640"/>
            <a:ext cx="6848640" cy="165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b="0" i="1" strike="noStrike" spc="-1">
                <a:solidFill>
                  <a:srgbClr val="FF6600"/>
                </a:solidFill>
                <a:latin typeface="Times New Roman" panose="02020603050405020304"/>
                <a:ea typeface="Calibri" panose="020F0502020204030204"/>
              </a:rPr>
              <a:t>Any Queries?</a:t>
            </a:r>
            <a:endParaRPr lang="en-IN" sz="96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1564</TotalTime>
  <Words>1047</Words>
  <Application>Microsoft Office PowerPoint</Application>
  <PresentationFormat>Widescreen</PresentationFormat>
  <Paragraphs>108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Office Theme</vt:lpstr>
      <vt:lpstr>PowerPoint Presentation</vt:lpstr>
      <vt:lpstr>Contents</vt:lpstr>
      <vt:lpstr>Title Justification</vt:lpstr>
      <vt:lpstr>Abstract</vt:lpstr>
      <vt:lpstr>Problem Statement</vt:lpstr>
      <vt:lpstr>Objectives of Project</vt:lpstr>
      <vt:lpstr>Literature survey for objectives</vt:lpstr>
      <vt:lpstr>Proposed System</vt:lpstr>
      <vt:lpstr> References</vt:lpstr>
      <vt:lpstr>Git Hub Dashboards of each student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venkatesh k</dc:creator>
  <cp:lastModifiedBy>kuchi harshitha</cp:lastModifiedBy>
  <cp:revision>148</cp:revision>
  <dcterms:created xsi:type="dcterms:W3CDTF">2019-06-11T05:35:00Z</dcterms:created>
  <dcterms:modified xsi:type="dcterms:W3CDTF">2025-12-11T15:00:09Z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9BB83942808244A299B002FD6DDC753B</vt:lpwstr>
  </property>
  <property fmtid="{D5CDD505-2E9C-101B-9397-08002B2CF9AE}" pid="3" name="KSOProductBuildVer">
    <vt:lpwstr>1033-12.2.0.18639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